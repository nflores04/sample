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 everyone! I am Nathaniel Flores, and welcome to the first citizenship </a:t>
            </a:r>
            <a:r>
              <a:rPr lang="en"/>
              <a:t>classes</a:t>
            </a:r>
            <a:r>
              <a:rPr lang="en"/>
              <a:t> meeting. Today, we will be discussing how to access the resources you will need for the class, and we will introduce ourselves to each other so we know each other. Also, we will be discussing future dates and what you need to know, so please pay close attention.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4b0ffc5dff_0_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4b0ffc5dff_0_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part of this class, we need to meet at the same time. During the survey you have all taken, the most popular option was Tuesday afternoons, so we will meet on Tuesday afternoons between 5:00 and 6:00PM. We will meet for the next 16 Tuesdays, and soon you will see a slide with a list of dates. </a:t>
            </a:r>
            <a:br>
              <a:rPr lang="en"/>
            </a:br>
            <a:br>
              <a:rPr lang="en"/>
            </a:br>
            <a:r>
              <a:rPr lang="en"/>
              <a:t>There is a shared calendar I have created for the meeting. If you would like to use it, there will be a code on one of the next slide. You will need to have a Google account to use the calendar. Please consider making a Quizlet account so you can practice the topics we will discuss in these classes. </a:t>
            </a:r>
            <a:br>
              <a:rPr lang="en"/>
            </a:br>
            <a:br>
              <a:rPr lang="en"/>
            </a:br>
            <a:r>
              <a:rPr lang="en"/>
              <a:t>If you cannot make it to a meeting, know that all of them are recorded for later viewing. A link to previous meetings can be found in the first email about citizenship classes I sent last week. Also, please remember to practice the Quizlet between classes. You will be able to see the Quizlet link on a later slide. Practicing between classes will help you remember what we learn in each session.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4b0ffc5dff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4b0ffc5dff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 will talk about the US citizenship test. The test is divided into sections, as you see right here. Each section has multiple parts, and we will go over each section during the 15 meetings left in the year. </a:t>
            </a:r>
            <a:br>
              <a:rPr lang="en"/>
            </a:br>
            <a:br>
              <a:rPr lang="en"/>
            </a:br>
            <a:r>
              <a:rPr lang="en"/>
              <a:t>The first section is on the American government. When the American government was created, it was designed to meet certain goals. These goals are known as “Principles”, and make America unique, and that is one topic. The American government also follows rules while it is working, which is called the “System of government”, which is another topic. The final topic is what you must do as a citizen.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second section is on American history. The three topics are about different groups of time. Each one is important, and we will learn all of them, but right now all you need to know is that we will talk about the War of Independence, the 1800s, and important events in American history after 1900.</a:t>
            </a:r>
            <a:br>
              <a:rPr lang="en"/>
            </a:br>
            <a:br>
              <a:rPr lang="en"/>
            </a:br>
            <a:r>
              <a:rPr lang="en"/>
              <a:t>The final section is on symbols and </a:t>
            </a:r>
            <a:r>
              <a:rPr lang="en"/>
              <a:t>holidays</a:t>
            </a:r>
            <a:r>
              <a:rPr lang="en"/>
              <a:t>. It only has two topics. The first topic is “symbols”, or things that America is known for. You may already know some of these, like our flag and national anthem. The second topic is our holidays, which are important days to Americans. Each holiday is about a special moment in our history’s past.</a:t>
            </a:r>
            <a:br>
              <a:rPr lang="en"/>
            </a:br>
            <a:br>
              <a:rPr lang="en"/>
            </a:br>
            <a:r>
              <a:rPr lang="en"/>
              <a:t>Now that you know all the sections, I will tell you how you will be tested on them. The test is a conversation with a gov</a:t>
            </a:r>
            <a:r>
              <a:rPr lang="en"/>
              <a:t>ernment official. You will be asked 20 questions, and you must answer at least 12 questions correctly to pass. The questions can be from any of the topics. With practice, you will be ready to answer questions from any of the topics, and we will discuss every kind of question you will see on the exam.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4b0ffc5dff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4b0ffc5dff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list of future class meetings. You may want to write down these dates now, so that we have them ready for next meeting.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4b0ffc5dff_0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4b0ffc5dff_0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Quizlet QR code. If you have a Quizlet account, you can join this class. If you don’t have one, please make one, then scan this code again.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*wait some time as everyone sets up*</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4b0ffc5dff_0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4b0ffc5dff_0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 for your time! I’m so glad everyone was able to be here today. Please remember to check your email for updates about these classes. I look forward to seeing you all next week!</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Citizenship Classes: Day 1</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Today’s topic: Introduction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Things To Know</a:t>
            </a:r>
            <a:endParaRPr/>
          </a:p>
        </p:txBody>
      </p:sp>
      <p:sp>
        <p:nvSpPr>
          <p:cNvPr id="61" name="Google Shape;61;p14"/>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en"/>
              <a:t>We meet every Tuesday during 5:00-6:00PM</a:t>
            </a:r>
            <a:endParaRPr/>
          </a:p>
          <a:p>
            <a:pPr indent="-342900" lvl="0" marL="457200" rtl="0" algn="l">
              <a:spcBef>
                <a:spcPts val="0"/>
              </a:spcBef>
              <a:spcAft>
                <a:spcPts val="0"/>
              </a:spcAft>
              <a:buSzPts val="1800"/>
              <a:buChar char="●"/>
            </a:pPr>
            <a:r>
              <a:rPr lang="en"/>
              <a:t>Make a Quizlet account</a:t>
            </a:r>
            <a:endParaRPr/>
          </a:p>
          <a:p>
            <a:pPr indent="-342900" lvl="0" marL="457200" rtl="0" algn="l">
              <a:spcBef>
                <a:spcPts val="0"/>
              </a:spcBef>
              <a:spcAft>
                <a:spcPts val="0"/>
              </a:spcAft>
              <a:buSzPts val="1800"/>
              <a:buChar char="●"/>
            </a:pPr>
            <a:r>
              <a:rPr lang="en"/>
              <a:t>Meetings are recorded for later</a:t>
            </a:r>
            <a:endParaRPr/>
          </a:p>
          <a:p>
            <a:pPr indent="-342900" lvl="0" marL="457200" rtl="0" algn="l">
              <a:spcBef>
                <a:spcPts val="0"/>
              </a:spcBef>
              <a:spcAft>
                <a:spcPts val="0"/>
              </a:spcAft>
              <a:buSzPts val="1800"/>
              <a:buChar char="●"/>
            </a:pPr>
            <a:r>
              <a:rPr lang="en"/>
              <a:t>Practice at home between meetings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Topics To Cover</a:t>
            </a:r>
            <a:endParaRPr/>
          </a:p>
        </p:txBody>
      </p:sp>
      <p:sp>
        <p:nvSpPr>
          <p:cNvPr id="67" name="Google Shape;67;p15"/>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en"/>
              <a:t>American government</a:t>
            </a:r>
            <a:endParaRPr/>
          </a:p>
          <a:p>
            <a:pPr indent="-342900" lvl="1" marL="914400" rtl="0" algn="l">
              <a:spcBef>
                <a:spcPts val="0"/>
              </a:spcBef>
              <a:spcAft>
                <a:spcPts val="0"/>
              </a:spcAft>
              <a:buSzPts val="1800"/>
              <a:buChar char="○"/>
            </a:pPr>
            <a:r>
              <a:rPr lang="en" sz="1800"/>
              <a:t>Principles of government</a:t>
            </a:r>
            <a:endParaRPr sz="1800"/>
          </a:p>
          <a:p>
            <a:pPr indent="-342900" lvl="1" marL="914400" rtl="0" algn="l">
              <a:spcBef>
                <a:spcPts val="0"/>
              </a:spcBef>
              <a:spcAft>
                <a:spcPts val="0"/>
              </a:spcAft>
              <a:buSzPts val="1800"/>
              <a:buChar char="○"/>
            </a:pPr>
            <a:r>
              <a:rPr lang="en" sz="1800"/>
              <a:t>System of government</a:t>
            </a:r>
            <a:endParaRPr sz="1800"/>
          </a:p>
          <a:p>
            <a:pPr indent="-342900" lvl="1" marL="914400" rtl="0" algn="l">
              <a:spcBef>
                <a:spcPts val="0"/>
              </a:spcBef>
              <a:spcAft>
                <a:spcPts val="0"/>
              </a:spcAft>
              <a:buSzPts val="1800"/>
              <a:buChar char="○"/>
            </a:pPr>
            <a:r>
              <a:rPr lang="en" sz="1800"/>
              <a:t>Rights and responsibilities</a:t>
            </a:r>
            <a:endParaRPr sz="1800"/>
          </a:p>
          <a:p>
            <a:pPr indent="-342900" lvl="0" marL="457200" rtl="0" algn="l">
              <a:spcBef>
                <a:spcPts val="0"/>
              </a:spcBef>
              <a:spcAft>
                <a:spcPts val="0"/>
              </a:spcAft>
              <a:buSzPts val="1800"/>
              <a:buChar char="●"/>
            </a:pPr>
            <a:r>
              <a:rPr lang="en"/>
              <a:t>American history</a:t>
            </a:r>
            <a:endParaRPr/>
          </a:p>
          <a:p>
            <a:pPr indent="-342900" lvl="1" marL="914400" rtl="0" algn="l">
              <a:spcBef>
                <a:spcPts val="0"/>
              </a:spcBef>
              <a:spcAft>
                <a:spcPts val="0"/>
              </a:spcAft>
              <a:buSzPts val="1800"/>
              <a:buChar char="○"/>
            </a:pPr>
            <a:r>
              <a:rPr lang="en" sz="1800"/>
              <a:t>War of Independence</a:t>
            </a:r>
            <a:endParaRPr sz="1800"/>
          </a:p>
          <a:p>
            <a:pPr indent="-342900" lvl="1" marL="914400" rtl="0" algn="l">
              <a:spcBef>
                <a:spcPts val="0"/>
              </a:spcBef>
              <a:spcAft>
                <a:spcPts val="0"/>
              </a:spcAft>
              <a:buSzPts val="1800"/>
              <a:buChar char="○"/>
            </a:pPr>
            <a:r>
              <a:rPr lang="en" sz="1800"/>
              <a:t>1800s</a:t>
            </a:r>
            <a:endParaRPr sz="1800"/>
          </a:p>
          <a:p>
            <a:pPr indent="-342900" lvl="1" marL="914400" rtl="0" algn="l">
              <a:spcBef>
                <a:spcPts val="0"/>
              </a:spcBef>
              <a:spcAft>
                <a:spcPts val="0"/>
              </a:spcAft>
              <a:buSzPts val="1800"/>
              <a:buChar char="○"/>
            </a:pPr>
            <a:r>
              <a:rPr lang="en" sz="1800"/>
              <a:t>Recent American history</a:t>
            </a:r>
            <a:endParaRPr sz="1800"/>
          </a:p>
          <a:p>
            <a:pPr indent="-342900" lvl="0" marL="457200" rtl="0" algn="l">
              <a:spcBef>
                <a:spcPts val="0"/>
              </a:spcBef>
              <a:spcAft>
                <a:spcPts val="0"/>
              </a:spcAft>
              <a:buSzPts val="1800"/>
              <a:buChar char="●"/>
            </a:pPr>
            <a:r>
              <a:rPr lang="en"/>
              <a:t>Symbols and holidays</a:t>
            </a:r>
            <a:endParaRPr/>
          </a:p>
          <a:p>
            <a:pPr indent="-342900" lvl="1" marL="914400" rtl="0" algn="l">
              <a:spcBef>
                <a:spcPts val="0"/>
              </a:spcBef>
              <a:spcAft>
                <a:spcPts val="0"/>
              </a:spcAft>
              <a:buSzPts val="1800"/>
              <a:buChar char="○"/>
            </a:pPr>
            <a:r>
              <a:rPr lang="en" sz="1800"/>
              <a:t>Symbols</a:t>
            </a:r>
            <a:endParaRPr sz="1800"/>
          </a:p>
          <a:p>
            <a:pPr indent="-342900" lvl="1" marL="914400" rtl="0" algn="l">
              <a:spcBef>
                <a:spcPts val="0"/>
              </a:spcBef>
              <a:spcAft>
                <a:spcPts val="0"/>
              </a:spcAft>
              <a:buSzPts val="1800"/>
              <a:buChar char="○"/>
            </a:pPr>
            <a:r>
              <a:rPr lang="en" sz="1800"/>
              <a:t>Holidays</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1160650"/>
            <a:ext cx="3999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t>January-February</a:t>
            </a:r>
            <a:endParaRPr sz="2400"/>
          </a:p>
        </p:txBody>
      </p:sp>
      <p:sp>
        <p:nvSpPr>
          <p:cNvPr id="73" name="Google Shape;73;p16"/>
          <p:cNvSpPr txBox="1"/>
          <p:nvPr>
            <p:ph idx="1" type="body"/>
          </p:nvPr>
        </p:nvSpPr>
        <p:spPr>
          <a:xfrm>
            <a:off x="311700" y="1733350"/>
            <a:ext cx="3999900" cy="2655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1/10/23</a:t>
            </a:r>
            <a:endParaRPr sz="1800"/>
          </a:p>
          <a:p>
            <a:pPr indent="-342900" lvl="0" marL="457200" rtl="0" algn="l">
              <a:spcBef>
                <a:spcPts val="0"/>
              </a:spcBef>
              <a:spcAft>
                <a:spcPts val="0"/>
              </a:spcAft>
              <a:buSzPts val="1800"/>
              <a:buChar char="●"/>
            </a:pPr>
            <a:r>
              <a:rPr lang="en" sz="1800"/>
              <a:t>1/17/23</a:t>
            </a:r>
            <a:endParaRPr sz="1800"/>
          </a:p>
          <a:p>
            <a:pPr indent="-342900" lvl="0" marL="457200" rtl="0" algn="l">
              <a:spcBef>
                <a:spcPts val="0"/>
              </a:spcBef>
              <a:spcAft>
                <a:spcPts val="0"/>
              </a:spcAft>
              <a:buSzPts val="1800"/>
              <a:buChar char="●"/>
            </a:pPr>
            <a:r>
              <a:rPr lang="en" sz="1800"/>
              <a:t>1/24/23</a:t>
            </a:r>
            <a:endParaRPr sz="1800"/>
          </a:p>
          <a:p>
            <a:pPr indent="-342900" lvl="0" marL="457200" rtl="0" algn="l">
              <a:spcBef>
                <a:spcPts val="0"/>
              </a:spcBef>
              <a:spcAft>
                <a:spcPts val="0"/>
              </a:spcAft>
              <a:buSzPts val="1800"/>
              <a:buChar char="●"/>
            </a:pPr>
            <a:r>
              <a:rPr lang="en" sz="1800"/>
              <a:t>1/31/23</a:t>
            </a:r>
            <a:endParaRPr sz="1800"/>
          </a:p>
          <a:p>
            <a:pPr indent="-342900" lvl="0" marL="457200" rtl="0" algn="l">
              <a:spcBef>
                <a:spcPts val="0"/>
              </a:spcBef>
              <a:spcAft>
                <a:spcPts val="0"/>
              </a:spcAft>
              <a:buSzPts val="1800"/>
              <a:buChar char="●"/>
            </a:pPr>
            <a:r>
              <a:rPr lang="en" sz="1800"/>
              <a:t>2/7/23</a:t>
            </a:r>
            <a:endParaRPr sz="1800"/>
          </a:p>
          <a:p>
            <a:pPr indent="-342900" lvl="0" marL="457200" rtl="0" algn="l">
              <a:spcBef>
                <a:spcPts val="0"/>
              </a:spcBef>
              <a:spcAft>
                <a:spcPts val="0"/>
              </a:spcAft>
              <a:buSzPts val="1800"/>
              <a:buChar char="●"/>
            </a:pPr>
            <a:r>
              <a:rPr lang="en" sz="1800"/>
              <a:t>2/14/23</a:t>
            </a:r>
            <a:endParaRPr sz="1800"/>
          </a:p>
          <a:p>
            <a:pPr indent="-342900" lvl="0" marL="457200" rtl="0" algn="l">
              <a:spcBef>
                <a:spcPts val="0"/>
              </a:spcBef>
              <a:spcAft>
                <a:spcPts val="0"/>
              </a:spcAft>
              <a:buSzPts val="1800"/>
              <a:buChar char="●"/>
            </a:pPr>
            <a:r>
              <a:rPr lang="en" sz="1800"/>
              <a:t>2/21/23</a:t>
            </a:r>
            <a:endParaRPr sz="1800"/>
          </a:p>
          <a:p>
            <a:pPr indent="-342900" lvl="0" marL="457200" rtl="0" algn="l">
              <a:spcBef>
                <a:spcPts val="0"/>
              </a:spcBef>
              <a:spcAft>
                <a:spcPts val="0"/>
              </a:spcAft>
              <a:buSzPts val="1800"/>
              <a:buChar char="●"/>
            </a:pPr>
            <a:r>
              <a:rPr lang="en" sz="1800"/>
              <a:t>2/28/23</a:t>
            </a:r>
            <a:endParaRPr sz="1800"/>
          </a:p>
        </p:txBody>
      </p:sp>
      <p:sp>
        <p:nvSpPr>
          <p:cNvPr id="74" name="Google Shape;74;p16"/>
          <p:cNvSpPr txBox="1"/>
          <p:nvPr>
            <p:ph idx="2" type="body"/>
          </p:nvPr>
        </p:nvSpPr>
        <p:spPr>
          <a:xfrm>
            <a:off x="4832400" y="1733350"/>
            <a:ext cx="3999900" cy="2655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3/7/23</a:t>
            </a:r>
            <a:endParaRPr sz="1800"/>
          </a:p>
          <a:p>
            <a:pPr indent="-342900" lvl="0" marL="457200" rtl="0" algn="l">
              <a:spcBef>
                <a:spcPts val="0"/>
              </a:spcBef>
              <a:spcAft>
                <a:spcPts val="0"/>
              </a:spcAft>
              <a:buSzPts val="1800"/>
              <a:buChar char="●"/>
            </a:pPr>
            <a:r>
              <a:rPr lang="en" sz="1800"/>
              <a:t>3/14/23</a:t>
            </a:r>
            <a:endParaRPr sz="1800"/>
          </a:p>
          <a:p>
            <a:pPr indent="-342900" lvl="0" marL="457200" rtl="0" algn="l">
              <a:spcBef>
                <a:spcPts val="0"/>
              </a:spcBef>
              <a:spcAft>
                <a:spcPts val="0"/>
              </a:spcAft>
              <a:buSzPts val="1800"/>
              <a:buChar char="●"/>
            </a:pPr>
            <a:r>
              <a:rPr lang="en" sz="1800"/>
              <a:t>3/28/23</a:t>
            </a:r>
            <a:endParaRPr sz="1800"/>
          </a:p>
          <a:p>
            <a:pPr indent="-342900" lvl="0" marL="457200" rtl="0" algn="l">
              <a:spcBef>
                <a:spcPts val="0"/>
              </a:spcBef>
              <a:spcAft>
                <a:spcPts val="0"/>
              </a:spcAft>
              <a:buSzPts val="1800"/>
              <a:buChar char="●"/>
            </a:pPr>
            <a:r>
              <a:rPr lang="en" sz="1800"/>
              <a:t>4/4/23</a:t>
            </a:r>
            <a:endParaRPr sz="1800"/>
          </a:p>
        </p:txBody>
      </p:sp>
      <p:sp>
        <p:nvSpPr>
          <p:cNvPr id="75" name="Google Shape;75;p16"/>
          <p:cNvSpPr txBox="1"/>
          <p:nvPr>
            <p:ph type="title"/>
          </p:nvPr>
        </p:nvSpPr>
        <p:spPr>
          <a:xfrm>
            <a:off x="4832400" y="1160650"/>
            <a:ext cx="3999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400"/>
              <a:t>March-April</a:t>
            </a:r>
            <a:endParaRPr sz="2400"/>
          </a:p>
        </p:txBody>
      </p:sp>
      <p:sp>
        <p:nvSpPr>
          <p:cNvPr id="76" name="Google Shape;76;p16"/>
          <p:cNvSpPr txBox="1"/>
          <p:nvPr>
            <p:ph type="title"/>
          </p:nvPr>
        </p:nvSpPr>
        <p:spPr>
          <a:xfrm>
            <a:off x="311700" y="319125"/>
            <a:ext cx="8520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600"/>
              <a:t>Future Class Dates</a:t>
            </a:r>
            <a:endParaRPr sz="3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258675" y="1590000"/>
            <a:ext cx="4260300" cy="1963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7600"/>
              <a:t>Quizlet</a:t>
            </a:r>
            <a:r>
              <a:rPr lang="en" sz="7600"/>
              <a:t> QR Code</a:t>
            </a:r>
            <a:endParaRPr sz="7600"/>
          </a:p>
        </p:txBody>
      </p:sp>
      <p:sp>
        <p:nvSpPr>
          <p:cNvPr id="82" name="Google Shape;82;p17"/>
          <p:cNvSpPr txBox="1"/>
          <p:nvPr>
            <p:ph idx="1" type="body"/>
          </p:nvPr>
        </p:nvSpPr>
        <p:spPr>
          <a:xfrm>
            <a:off x="311700" y="3470275"/>
            <a:ext cx="4260300" cy="1300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Not working? Go to </a:t>
            </a:r>
            <a:r>
              <a:rPr b="1" lang="en"/>
              <a:t>https://tinyurl.com/quizletclass2023</a:t>
            </a:r>
            <a:endParaRPr b="1"/>
          </a:p>
        </p:txBody>
      </p:sp>
      <p:pic>
        <p:nvPicPr>
          <p:cNvPr id="83" name="Google Shape;83;p17"/>
          <p:cNvPicPr preferRelativeResize="0"/>
          <p:nvPr/>
        </p:nvPicPr>
        <p:blipFill>
          <a:blip r:embed="rId3">
            <a:alphaModFix/>
          </a:blip>
          <a:stretch>
            <a:fillRect/>
          </a:stretch>
        </p:blipFill>
        <p:spPr>
          <a:xfrm>
            <a:off x="4572000" y="691975"/>
            <a:ext cx="3759550" cy="3759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1106125"/>
            <a:ext cx="8520600" cy="1963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Thank you!</a:t>
            </a:r>
            <a:endParaRPr/>
          </a:p>
        </p:txBody>
      </p:sp>
      <p:sp>
        <p:nvSpPr>
          <p:cNvPr id="89" name="Google Shape;89;p18"/>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