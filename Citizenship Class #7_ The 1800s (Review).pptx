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60f1c8e2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60f1c8e2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c2d33fef5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c2d33fef5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territory did the United States buy from France in 1803? Louisiana Territory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c2d33fef5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c2d33fef5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one war fought by the United States in 1800s. Civil War</a:t>
            </a:r>
            <a:endParaRPr/>
          </a:p>
          <a:p>
            <a:pPr indent="0" lvl="0" marL="0" rtl="0" algn="l">
              <a:spcBef>
                <a:spcPts val="0"/>
              </a:spcBef>
              <a:spcAft>
                <a:spcPts val="0"/>
              </a:spcAft>
              <a:buNone/>
            </a:pPr>
            <a:r>
              <a:rPr lang="en"/>
              <a:t>Name the US war between the North and South. The Civil War</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60f1c8e22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60f1c8e22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Abraham Lincoln is famous for many things. Name one. Freed the slaves, saved the Union, led the United States during the Civil War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60f1c8e22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60f1c8e22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Civil War had many important events. Name one. Emancipation Proclamation</a:t>
            </a:r>
            <a:endParaRPr/>
          </a:p>
          <a:p>
            <a:pPr indent="0" lvl="0" marL="0" rtl="0" algn="l">
              <a:spcBef>
                <a:spcPts val="0"/>
              </a:spcBef>
              <a:spcAft>
                <a:spcPts val="0"/>
              </a:spcAft>
              <a:buNone/>
            </a:pPr>
            <a:r>
              <a:rPr lang="en"/>
              <a:t>What did the Emancipation Proclamation do? Freed the slaves</a:t>
            </a:r>
            <a:endParaRPr/>
          </a:p>
          <a:p>
            <a:pPr indent="0" lvl="0" marL="0" rtl="0" algn="l">
              <a:spcBef>
                <a:spcPts val="0"/>
              </a:spcBef>
              <a:spcAft>
                <a:spcPts val="0"/>
              </a:spcAft>
              <a:buNone/>
            </a:pPr>
            <a:r>
              <a:rPr lang="en"/>
              <a:t>]What US war ended slavery? The Civil War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60f1c8e22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60f1c8e22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amendment gives citizenship to all persons born in the United States? 14th Amendment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60f1c8e224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60f1c8e22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a:t>
            </a:r>
            <a:r>
              <a:rPr lang="en"/>
              <a:t> did all men </a:t>
            </a:r>
            <a:r>
              <a:rPr lang="en"/>
              <a:t>get the right to vote? After the Civil War, 15th Amendment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c2d33fef5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c2d33fef5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Name one leader of the women’s rights movement in the 1800s. Harriet Tubman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60f1c8e22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60f1c8e22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Citizenship Classes: Day 7</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Today’s topic: The 1800s (Review)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Topics To Cover</a:t>
            </a:r>
            <a:endParaRPr/>
          </a:p>
        </p:txBody>
      </p:sp>
      <p:sp>
        <p:nvSpPr>
          <p:cNvPr id="61" name="Google Shape;61;p1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62" name="Google Shape;62;p1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American Civil War</a:t>
            </a:r>
            <a:endParaRPr/>
          </a:p>
          <a:p>
            <a:pPr indent="-317500" lvl="1" marL="914400" rtl="0" algn="l">
              <a:spcBef>
                <a:spcPts val="0"/>
              </a:spcBef>
              <a:spcAft>
                <a:spcPts val="0"/>
              </a:spcAft>
              <a:buSzPts val="1400"/>
              <a:buChar char="○"/>
            </a:pPr>
            <a:r>
              <a:rPr lang="en"/>
              <a:t>Abraham Lincoln</a:t>
            </a:r>
            <a:endParaRPr/>
          </a:p>
          <a:p>
            <a:pPr indent="-317500" lvl="1" marL="914400" rtl="0" algn="l">
              <a:spcBef>
                <a:spcPts val="0"/>
              </a:spcBef>
              <a:spcAft>
                <a:spcPts val="0"/>
              </a:spcAft>
              <a:buSzPts val="1400"/>
              <a:buChar char="○"/>
            </a:pPr>
            <a:r>
              <a:rPr lang="en"/>
              <a:t>Slavery</a:t>
            </a:r>
            <a:endParaRPr/>
          </a:p>
          <a:p>
            <a:pPr indent="-317500" lvl="1" marL="914400" rtl="0" algn="l">
              <a:spcBef>
                <a:spcPts val="0"/>
              </a:spcBef>
              <a:spcAft>
                <a:spcPts val="0"/>
              </a:spcAft>
              <a:buSzPts val="1400"/>
              <a:buChar char="○"/>
            </a:pPr>
            <a:r>
              <a:rPr lang="en"/>
              <a:t>Events</a:t>
            </a:r>
            <a:endParaRPr/>
          </a:p>
          <a:p>
            <a:pPr indent="-342900" lvl="0" marL="457200" rtl="0" algn="l">
              <a:spcBef>
                <a:spcPts val="0"/>
              </a:spcBef>
              <a:spcAft>
                <a:spcPts val="0"/>
              </a:spcAft>
              <a:buSzPts val="1800"/>
              <a:buChar char="●"/>
            </a:pPr>
            <a:r>
              <a:rPr lang="en"/>
              <a:t>American expansion</a:t>
            </a:r>
            <a:endParaRPr/>
          </a:p>
          <a:p>
            <a:pPr indent="-317500" lvl="1" marL="914400" rtl="0" algn="l">
              <a:spcBef>
                <a:spcPts val="0"/>
              </a:spcBef>
              <a:spcAft>
                <a:spcPts val="0"/>
              </a:spcAft>
              <a:buSzPts val="1400"/>
              <a:buChar char="○"/>
            </a:pPr>
            <a:r>
              <a:rPr lang="en"/>
              <a:t>Louisiana purchase</a:t>
            </a:r>
            <a:endParaRPr/>
          </a:p>
          <a:p>
            <a:pPr indent="-342900" lvl="0" marL="457200" rtl="0" algn="l">
              <a:spcBef>
                <a:spcPts val="0"/>
              </a:spcBef>
              <a:spcAft>
                <a:spcPts val="0"/>
              </a:spcAft>
              <a:buSzPts val="1800"/>
              <a:buChar char="●"/>
            </a:pPr>
            <a:r>
              <a:rPr lang="en"/>
              <a:t>Civil rights</a:t>
            </a:r>
            <a:endParaRPr/>
          </a:p>
          <a:p>
            <a:pPr indent="-317500" lvl="1" marL="914400" rtl="0" algn="l">
              <a:spcBef>
                <a:spcPts val="0"/>
              </a:spcBef>
              <a:spcAft>
                <a:spcPts val="0"/>
              </a:spcAft>
              <a:buSzPts val="1400"/>
              <a:buChar char="○"/>
            </a:pPr>
            <a:r>
              <a:rPr lang="en"/>
              <a:t>Voting</a:t>
            </a:r>
            <a:endParaRPr/>
          </a:p>
          <a:p>
            <a:pPr indent="-317500" lvl="1" marL="914400" rtl="0" algn="l">
              <a:spcBef>
                <a:spcPts val="0"/>
              </a:spcBef>
              <a:spcAft>
                <a:spcPts val="0"/>
              </a:spcAft>
              <a:buSzPts val="1400"/>
              <a:buChar char="○"/>
            </a:pPr>
            <a:r>
              <a:rPr lang="en"/>
              <a:t>Women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America doubles in size!</a:t>
            </a:r>
            <a:endParaRPr/>
          </a:p>
        </p:txBody>
      </p:sp>
      <p:sp>
        <p:nvSpPr>
          <p:cNvPr id="68" name="Google Shape;68;p15"/>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Lousiana Territory, bought in 1803 from France</a:t>
            </a:r>
            <a:endParaRPr/>
          </a:p>
        </p:txBody>
      </p:sp>
      <p:pic>
        <p:nvPicPr>
          <p:cNvPr id="69" name="Google Shape;69;p15"/>
          <p:cNvPicPr preferRelativeResize="0"/>
          <p:nvPr/>
        </p:nvPicPr>
        <p:blipFill>
          <a:blip r:embed="rId3">
            <a:alphaModFix/>
          </a:blip>
          <a:stretch>
            <a:fillRect/>
          </a:stretch>
        </p:blipFill>
        <p:spPr>
          <a:xfrm>
            <a:off x="1569913" y="701313"/>
            <a:ext cx="6004163" cy="3740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Civil War</a:t>
            </a:r>
            <a:endParaRPr/>
          </a:p>
        </p:txBody>
      </p:sp>
      <p:sp>
        <p:nvSpPr>
          <p:cNvPr id="75" name="Google Shape;75;p16"/>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America’s North vs South</a:t>
            </a:r>
            <a:endParaRPr/>
          </a:p>
        </p:txBody>
      </p:sp>
      <p:pic>
        <p:nvPicPr>
          <p:cNvPr id="76" name="Google Shape;76;p16"/>
          <p:cNvPicPr preferRelativeResize="0"/>
          <p:nvPr/>
        </p:nvPicPr>
        <p:blipFill>
          <a:blip r:embed="rId3">
            <a:alphaModFix/>
          </a:blip>
          <a:stretch>
            <a:fillRect/>
          </a:stretch>
        </p:blipFill>
        <p:spPr>
          <a:xfrm>
            <a:off x="1077600" y="390513"/>
            <a:ext cx="6988801" cy="4362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140700" y="526350"/>
            <a:ext cx="4790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Abraham Lincoln</a:t>
            </a:r>
            <a:endParaRPr/>
          </a:p>
        </p:txBody>
      </p:sp>
      <p:pic>
        <p:nvPicPr>
          <p:cNvPr id="82" name="Google Shape;82;p17"/>
          <p:cNvPicPr preferRelativeResize="0"/>
          <p:nvPr/>
        </p:nvPicPr>
        <p:blipFill>
          <a:blip r:embed="rId3">
            <a:alphaModFix/>
          </a:blip>
          <a:stretch>
            <a:fillRect/>
          </a:stretch>
        </p:blipFill>
        <p:spPr>
          <a:xfrm>
            <a:off x="5024600" y="152400"/>
            <a:ext cx="3756254"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p:cNvPicPr preferRelativeResize="0"/>
          <p:nvPr/>
        </p:nvPicPr>
        <p:blipFill>
          <a:blip r:embed="rId3">
            <a:alphaModFix/>
          </a:blip>
          <a:stretch>
            <a:fillRect/>
          </a:stretch>
        </p:blipFill>
        <p:spPr>
          <a:xfrm>
            <a:off x="608138" y="152400"/>
            <a:ext cx="7927726"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Section 1 of the Fourteenth Amendment</a:t>
            </a:r>
            <a:endParaRPr/>
          </a:p>
        </p:txBody>
      </p:sp>
      <p:sp>
        <p:nvSpPr>
          <p:cNvPr id="93" name="Google Shape;93;p19"/>
          <p:cNvSpPr txBox="1"/>
          <p:nvPr>
            <p:ph idx="1" type="body"/>
          </p:nvPr>
        </p:nvSpPr>
        <p:spPr>
          <a:xfrm>
            <a:off x="311701" y="1293191"/>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All persons born or naturalized in the United States, and subject to the jurisdiction thereof, are citizens of the United States and of the State wherein they reside. No State shall make or enforce any law which shall abridge the privileges or immunities of citizens of the United States; nor shall any State deprive any person of life, liberty, or property, without due process of law; nor deny to any person within its jurisdiction the equal protection of the laws.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Entire Fifteenth Amendment</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Section 1.</a:t>
            </a:r>
            <a:r>
              <a:rPr lang="en"/>
              <a:t> The right of citizens of the United States to vote shall not be denied or abridged by the United States or by any State on account of race, color, or previous condition of servitude.</a:t>
            </a:r>
            <a:endParaRPr/>
          </a:p>
          <a:p>
            <a:pPr indent="0" lvl="0" marL="0" rtl="0" algn="l">
              <a:spcBef>
                <a:spcPts val="1200"/>
              </a:spcBef>
              <a:spcAft>
                <a:spcPts val="0"/>
              </a:spcAft>
              <a:buClr>
                <a:schemeClr val="dk1"/>
              </a:buClr>
              <a:buSzPts val="1100"/>
              <a:buFont typeface="Arial"/>
              <a:buNone/>
            </a:pPr>
            <a:r>
              <a:rPr b="1" lang="en"/>
              <a:t>Section 2.</a:t>
            </a:r>
            <a:r>
              <a:rPr lang="en"/>
              <a:t> The Congress shall have power to enforce this article by appropriate legislation.</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140700" y="526350"/>
            <a:ext cx="4790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Harriet Tubman</a:t>
            </a:r>
            <a:endParaRPr/>
          </a:p>
        </p:txBody>
      </p:sp>
      <p:pic>
        <p:nvPicPr>
          <p:cNvPr id="105" name="Google Shape;105;p21"/>
          <p:cNvPicPr preferRelativeResize="0"/>
          <p:nvPr/>
        </p:nvPicPr>
        <p:blipFill>
          <a:blip r:embed="rId3">
            <a:alphaModFix/>
          </a:blip>
          <a:stretch>
            <a:fillRect/>
          </a:stretch>
        </p:blipFill>
        <p:spPr>
          <a:xfrm>
            <a:off x="5408475" y="152400"/>
            <a:ext cx="3627892" cy="4838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